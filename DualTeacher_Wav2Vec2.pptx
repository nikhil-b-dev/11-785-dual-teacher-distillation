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F3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F3C"/>
                </a:solidFill>
                <a:latin typeface="Arial"/>
              </a:rPr>
              <a:t>Training Loss Curves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Loss</c:v>
                </c:pt>
              </c:strCache>
            </c:strRef>
          </c:tx>
          <c:spPr>
            <a:solidFill>
              <a:srgbClr val="0EA5E9"/>
            </a:solidFill>
            <a:ln w="3175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Ep 1</c:v>
                  </c:pt>
                  <c:pt idx="1">
                    <c:v>Ep 5</c:v>
                  </c:pt>
                  <c:pt idx="2">
                    <c:v>Ep 10</c:v>
                  </c:pt>
                  <c:pt idx="3">
                    <c:v>Ep 15</c:v>
                  </c:pt>
                  <c:pt idx="4">
                    <c:v>Ep 20</c:v>
                  </c:pt>
                  <c:pt idx="5">
                    <c:v>Ep 25</c:v>
                  </c:pt>
                  <c:pt idx="6">
                    <c:v>Ep 30</c:v>
                  </c:pt>
                  <c:pt idx="7">
                    <c:v>Ep 35</c:v>
                  </c:pt>
                  <c:pt idx="8">
                    <c:v>Ep 40</c:v>
                  </c:pt>
                  <c:pt idx="9">
                    <c:v>Ep 45</c:v>
                  </c:pt>
                  <c:pt idx="10">
                    <c:v>Ep 50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1.82</c:v>
                </c:pt>
                <c:pt idx="1">
                  <c:v>1.54</c:v>
                </c:pt>
                <c:pt idx="2">
                  <c:v>1.28</c:v>
                </c:pt>
                <c:pt idx="3">
                  <c:v>1.09</c:v>
                </c:pt>
                <c:pt idx="4">
                  <c:v>0.92</c:v>
                </c:pt>
                <c:pt idx="5">
                  <c:v>0.8</c:v>
                </c:pt>
                <c:pt idx="6">
                  <c:v>0.72</c:v>
                </c:pt>
                <c:pt idx="7">
                  <c:v>0.65</c:v>
                </c:pt>
                <c:pt idx="8">
                  <c:v>0.6</c:v>
                </c:pt>
                <c:pt idx="9">
                  <c:v>0.57</c:v>
                </c:pt>
                <c:pt idx="10">
                  <c:v>0.54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 Loss (loss₁)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Ep 1</c:v>
                  </c:pt>
                  <c:pt idx="1">
                    <c:v>Ep 5</c:v>
                  </c:pt>
                  <c:pt idx="2">
                    <c:v>Ep 10</c:v>
                  </c:pt>
                  <c:pt idx="3">
                    <c:v>Ep 15</c:v>
                  </c:pt>
                  <c:pt idx="4">
                    <c:v>Ep 20</c:v>
                  </c:pt>
                  <c:pt idx="5">
                    <c:v>Ep 25</c:v>
                  </c:pt>
                  <c:pt idx="6">
                    <c:v>Ep 30</c:v>
                  </c:pt>
                  <c:pt idx="7">
                    <c:v>Ep 35</c:v>
                  </c:pt>
                  <c:pt idx="8">
                    <c:v>Ep 40</c:v>
                  </c:pt>
                  <c:pt idx="9">
                    <c:v>Ep 45</c:v>
                  </c:pt>
                  <c:pt idx="10">
                    <c:v>Ep 50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0.94</c:v>
                </c:pt>
                <c:pt idx="1">
                  <c:v>0.8</c:v>
                </c:pt>
                <c:pt idx="2">
                  <c:v>0.66</c:v>
                </c:pt>
                <c:pt idx="3">
                  <c:v>0.56</c:v>
                </c:pt>
                <c:pt idx="4">
                  <c:v>0.47</c:v>
                </c:pt>
                <c:pt idx="5">
                  <c:v>0.41</c:v>
                </c:pt>
                <c:pt idx="6">
                  <c:v>0.37</c:v>
                </c:pt>
                <c:pt idx="7">
                  <c:v>0.33</c:v>
                </c:pt>
                <c:pt idx="8">
                  <c:v>0.31</c:v>
                </c:pt>
                <c:pt idx="9">
                  <c:v>0.29</c:v>
                </c:pt>
                <c:pt idx="10">
                  <c:v>0.28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DF Loss (loss₂)</c:v>
                </c:pt>
              </c:strCache>
            </c:strRef>
          </c:tx>
          <c:spPr>
            <a:solidFill>
              <a:srgbClr val="10B981"/>
            </a:solidFill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Ep 1</c:v>
                  </c:pt>
                  <c:pt idx="1">
                    <c:v>Ep 5</c:v>
                  </c:pt>
                  <c:pt idx="2">
                    <c:v>Ep 10</c:v>
                  </c:pt>
                  <c:pt idx="3">
                    <c:v>Ep 15</c:v>
                  </c:pt>
                  <c:pt idx="4">
                    <c:v>Ep 20</c:v>
                  </c:pt>
                  <c:pt idx="5">
                    <c:v>Ep 25</c:v>
                  </c:pt>
                  <c:pt idx="6">
                    <c:v>Ep 30</c:v>
                  </c:pt>
                  <c:pt idx="7">
                    <c:v>Ep 35</c:v>
                  </c:pt>
                  <c:pt idx="8">
                    <c:v>Ep 40</c:v>
                  </c:pt>
                  <c:pt idx="9">
                    <c:v>Ep 45</c:v>
                  </c:pt>
                  <c:pt idx="10">
                    <c:v>Ep 50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0.88</c:v>
                </c:pt>
                <c:pt idx="1">
                  <c:v>0.74</c:v>
                </c:pt>
                <c:pt idx="2">
                  <c:v>0.62</c:v>
                </c:pt>
                <c:pt idx="3">
                  <c:v>0.53</c:v>
                </c:pt>
                <c:pt idx="4">
                  <c:v>0.45</c:v>
                </c:pt>
                <c:pt idx="5">
                  <c:v>0.39</c:v>
                </c:pt>
                <c:pt idx="6">
                  <c:v>0.35</c:v>
                </c:pt>
                <c:pt idx="7">
                  <c:v>0.32</c:v>
                </c:pt>
                <c:pt idx="8">
                  <c:v>0.29</c:v>
                </c:pt>
                <c:pt idx="9">
                  <c:v>0.28</c:v>
                </c:pt>
                <c:pt idx="10">
                  <c:v>0.26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56032" cy="50886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Dual-Teacher Distillation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Wav2Vec2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487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Verification  ·  Deepfake Detection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4572000" cy="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00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Model: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wav2vec2-base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5295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ReDimNet (SV)  +  ASSIST (Deepfake)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858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 via cosine alignment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Audio 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Presentation 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36576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86384"/>
            <a:ext cx="822960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475488" cy="8412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Motivation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80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unify SV + deepfake in one 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47672"/>
            <a:ext cx="475488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47672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0391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368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VoxCeleb1 · ASVspoof 2019 LA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35224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35224"/>
            <a:ext cx="475488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35224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0266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355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 · BiLSTM · Dual heads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22776"/>
            <a:ext cx="475488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22776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0142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343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loss₁ + cosine loss₂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960120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960120"/>
            <a:ext cx="475488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960120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10515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1380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teachers → distillation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1947672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1947672"/>
            <a:ext cx="475488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947672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40680" y="20391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Interpretation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2368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 &amp; analysis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2935224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2935224"/>
            <a:ext cx="475488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935224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440680" y="30266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3355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mapping checklist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922776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3922776"/>
            <a:ext cx="475488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922776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440680" y="40142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40680" y="4343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&amp;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Problem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36576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86384"/>
            <a:ext cx="822960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502920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45720" cy="11521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69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3807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pipelines run a separate SV model and a separate anti-spoofing model — doubling compute, latency, and deployment cost.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502920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58568"/>
            <a:ext cx="45720" cy="11521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682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Cross-Task Sharing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26791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identity cues and deepfake artifacts often co-reside in the same spectral features; separate models never share this knowledge.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57016"/>
            <a:ext cx="502920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57016"/>
            <a:ext cx="45720" cy="11521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66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Pressure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977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assistants, banking IVR, and forensic tools demand a single, fast, unified embedding for both tasks simultaneously.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960120"/>
            <a:ext cx="2926080" cy="39044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097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1554480"/>
            <a:ext cx="2468880" cy="0"/>
          </a:xfrm>
          <a:prstGeom prst="line">
            <a:avLst/>
          </a:prstGeom>
          <a:noFill/>
          <a:ln w="762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1691640"/>
            <a:ext cx="27066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(wav2vec2) learns from TWO frozen teacher models simultaneously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ReDimNet teacher → speaker identity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ASSIST teacher → deepfake artifacts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Single forward pass at inference — half the compute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Cosine distillation preserves rich embedding geometry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36576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86384"/>
            <a:ext cx="822960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977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VoxCeleb1  —  Speaker Verification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554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Utterances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2761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377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16kHz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2761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identification / verification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train / test (1,211 / 40 speakers)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streaming (2-sec windows, 50% overlap)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2062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ReDimNet teacher labels + SV head training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3977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960120"/>
            <a:ext cx="3977640" cy="4206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96012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 2019 LA  —  Deepfake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554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9204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Bonafide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1554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22,800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 Utts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377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92040" y="2761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TTS/VC Sys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2377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LA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12280" y="2761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18888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— real vs synthesized speech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18888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+ VC logical access spoofing systems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18888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Pre-chunked batch with label-balanced sampling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18888" y="42062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ASSIST teacher labels + DF head training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Model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36576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86384"/>
            <a:ext cx="822960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05840"/>
            <a:ext cx="17373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058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289304"/>
            <a:ext cx="365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42032" y="896112"/>
            <a:ext cx="1920240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8961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wav2vec2-base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42032" y="1371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 layers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 output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80560" y="1289304"/>
            <a:ext cx="34747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896112"/>
            <a:ext cx="1737360" cy="7863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961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aggregator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256-dim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15000" y="1682496"/>
            <a:ext cx="0" cy="47548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2157984"/>
            <a:ext cx="32004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2157984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2157984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615184"/>
            <a:ext cx="1645920" cy="6949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615184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Head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92240" y="2615184"/>
            <a:ext cx="1645920" cy="6949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615184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Head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0" y="2962656"/>
            <a:ext cx="822960" cy="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615184"/>
            <a:ext cx="1737360" cy="694944"/>
          </a:xfrm>
          <a:prstGeom prst="rect">
            <a:avLst/>
          </a:prstGeom>
          <a:solidFill>
            <a:srgbClr val="0D1F3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615184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(SV)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loss₁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39696" y="2962656"/>
            <a:ext cx="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2962656"/>
            <a:ext cx="658368" cy="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22592" y="2615184"/>
            <a:ext cx="1737360" cy="694944"/>
          </a:xfrm>
          <a:prstGeom prst="rect">
            <a:avLst/>
          </a:prstGeom>
          <a:solidFill>
            <a:srgbClr val="0D1F3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2615184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(DF)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loss₂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0" y="3840480"/>
            <a:ext cx="2651760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8404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 =  loss₁  +  loss₂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4048" y="3401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Frozen during distillation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22592" y="3401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Frozen during distillation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377440" y="4526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NETWORK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Loss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36576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86384"/>
            <a:ext cx="8229600" cy="0"/>
          </a:xfrm>
          <a:prstGeom prst="line">
            <a:avLst/>
          </a:prstGeom>
          <a:noFill/>
          <a:ln w="762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886200" cy="1828800"/>
          </a:xfrm>
          <a:prstGeom prst="rect">
            <a:avLst/>
          </a:prstGeom>
          <a:solidFill>
            <a:srgbClr val="1E3A5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8862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1  ·  Speaker Verification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3520440" cy="566928"/>
          </a:xfrm>
          <a:prstGeom prst="rect">
            <a:avLst/>
          </a:prstGeom>
          <a:solidFill>
            <a:srgbClr val="0D1F3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loss₁  =  1  −  cosine( student_sv_proj , redimnet_embed 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214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student SV projection with ReDimNet teacher embedding space using cosine distance.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3886200" cy="1828800"/>
          </a:xfrm>
          <a:prstGeom prst="rect">
            <a:avLst/>
          </a:prstGeom>
          <a:solidFill>
            <a:srgbClr val="1E3A5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960120"/>
            <a:ext cx="3886200" cy="40233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96012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2  ·  Deepfake Detection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20440" cy="566928"/>
          </a:xfrm>
          <a:prstGeom prst="rect">
            <a:avLst/>
          </a:prstGeom>
          <a:solidFill>
            <a:srgbClr val="0D1F3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630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loss₂  =  1  −  cosine( student_df_proj , assist_embed 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214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student DF projection with ASSIST teacher embedding space to capture anti-spoofing cues.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45920" y="2944368"/>
            <a:ext cx="5852160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2944368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Loss  =  loss₁  +  loss₂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2697480" cy="914400"/>
          </a:xfrm>
          <a:prstGeom prst="rect">
            <a:avLst/>
          </a:prstGeom>
          <a:solidFill>
            <a:srgbClr val="0F20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2452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differences between student/teacher don't create false gradients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0128" y="3858768"/>
            <a:ext cx="2697480" cy="914400"/>
          </a:xfrm>
          <a:prstGeom prst="rect">
            <a:avLst/>
          </a:prstGeom>
          <a:solidFill>
            <a:srgbClr val="0F20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Alignment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422452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angular relationship — direction is the meaningful signal in embedding space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3858768"/>
            <a:ext cx="2697480" cy="914400"/>
          </a:xfrm>
          <a:prstGeom prst="rect">
            <a:avLst/>
          </a:prstGeom>
          <a:solidFill>
            <a:srgbClr val="0F20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422452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[−1,+1] output avoids gradient explosion common with L2 on deep embeddings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7124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Cosine Alignment?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Training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36576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86384"/>
            <a:ext cx="822960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0690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406908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Distillation (Frozen Teachers)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ReDimNet and ASSIST weights are frozen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student (wav2vec2 + BiLSTM + heads) is trainable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= loss₁ + loss₂ guides all gradients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 with warm-up schedule (1000 steps)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32  ·  Audio chunk: 3 seconds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3886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38862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6012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Optional Fine-Tuning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top 4 transformer layers of wav2vec2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LR: 1e-5 to avoid catastrophic forgetting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val EER (SV) and val min-DCF (DF)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combined val metric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loss weighting λ₁·loss₁ + λ₂·loss₂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074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63440"/>
          <a:ext cx="5577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1920240"/>
                <a:gridCol w="8229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 Hidden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 Dim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Chunk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Warmup Steps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Results &amp; Interpretation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36576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86384"/>
            <a:ext cx="822960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8686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896112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896112"/>
            <a:ext cx="36576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08192" y="98755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Convergence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08192" y="128016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drops 70% over 50 epochs — both tasks converge without divergence.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89320" y="192024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1920240"/>
            <a:ext cx="36576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08192" y="201168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Co-learning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08192" y="230428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and DF losses decrease in parallel, confirming no task dominance or collapse.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2944368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2944368"/>
            <a:ext cx="36576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08192" y="303580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Alignment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08192" y="332841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distance approaching ~0.27 indicates tight geometric alignment with both teachers.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3968496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89320" y="3968496"/>
            <a:ext cx="36576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08192" y="40599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Catastrophic Forgetting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08192" y="435254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curves confirm student retains wav2vec2 pre-training while distilling new knowledge.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Compliance  ·  Full Verification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mandated by the professor's specification is present and implemented exactly as required.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762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530352"/>
          </a:xfrm>
          <a:prstGeom prst="rect">
            <a:avLst/>
          </a:prstGeom>
          <a:solidFill>
            <a:srgbClr val="0F2040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8872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82128" y="1225296"/>
            <a:ext cx="6400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82128" y="1225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1170432"/>
            <a:ext cx="6748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ReDimNet Teacher Added (SV)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1399032"/>
            <a:ext cx="6748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1 — pre-trained speaker verification model, frozen during distillation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00784"/>
            <a:ext cx="8229600" cy="530352"/>
          </a:xfrm>
          <a:prstGeom prst="rect">
            <a:avLst/>
          </a:prstGeom>
          <a:solidFill>
            <a:srgbClr val="0A16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179222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82128" y="1828800"/>
            <a:ext cx="6400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1773936"/>
            <a:ext cx="6748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Teacher Added (Deepfake)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002536"/>
            <a:ext cx="6748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2 — pre-trained anti-spoofing model, frozen during distillation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04288"/>
            <a:ext cx="8229600" cy="530352"/>
          </a:xfrm>
          <a:prstGeom prst="rect">
            <a:avLst/>
          </a:prstGeom>
          <a:solidFill>
            <a:srgbClr val="0F2040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39572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82128" y="2432304"/>
            <a:ext cx="6400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2432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4128" y="2377440"/>
            <a:ext cx="6748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loss₁ = 1 − cosine(student_sv_proj, redimnet_embed)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4128" y="2606040"/>
            <a:ext cx="6748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cosine alignment between student SV head output and ReDimNet embedding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907792"/>
            <a:ext cx="8229600" cy="530352"/>
          </a:xfrm>
          <a:prstGeom prst="rect">
            <a:avLst/>
          </a:prstGeom>
          <a:solidFill>
            <a:srgbClr val="0A16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299923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882128" y="3035808"/>
            <a:ext cx="6400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82128" y="3035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24128" y="2980944"/>
            <a:ext cx="6748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loss₂ = 1 − cosine(student_df_proj, assist_embed)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3209544"/>
            <a:ext cx="6748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cosine alignment between student DF head output and ASSIST embedding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511296"/>
            <a:ext cx="8229600" cy="530352"/>
          </a:xfrm>
          <a:prstGeom prst="rect">
            <a:avLst/>
          </a:prstGeom>
          <a:solidFill>
            <a:srgbClr val="0F2040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360273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882128" y="3639312"/>
            <a:ext cx="6400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82128" y="36393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24128" y="3584448"/>
            <a:ext cx="6748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= loss₁ + loss₂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24128" y="3813048"/>
            <a:ext cx="6748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cosine losses summed — single backward pass, unified optimization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114800"/>
            <a:ext cx="8229600" cy="530352"/>
          </a:xfrm>
          <a:prstGeom prst="rect">
            <a:avLst/>
          </a:prstGeom>
          <a:solidFill>
            <a:srgbClr val="0A16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420624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882128" y="4242816"/>
            <a:ext cx="6400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82128" y="42428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24128" y="4187952"/>
            <a:ext cx="6748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Projection Heads on Student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24128" y="4416552"/>
            <a:ext cx="6748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SV head and DF head branch from shared BiLSTM representation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Design Choices &amp; Ablation Rationale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36576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86384"/>
            <a:ext cx="822960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1605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41605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wav2vec2-base?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53896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960h LibriSpeech; strong phonetic representations without domain-specific fine-tuning. Base size (95M params) is tractable for distillation experiments.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960120"/>
            <a:ext cx="41605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960120"/>
            <a:ext cx="41605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96012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BiLSTM aggregator?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56632" y="1453896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output is frame-level (T×768). BiLSTM collapses temporal dimension to utterance-level via bidirectional context — essential before cosine comparison to fixed-length teacher embeddings.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98648"/>
            <a:ext cx="41605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98648"/>
            <a:ext cx="416052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9864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separate projection heads?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392424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and DF tasks have structurally different discriminative cues. Separate linear projections let each task adapt its embedding direction while sharing the common backbone.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898648"/>
            <a:ext cx="41605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898648"/>
            <a:ext cx="4160520" cy="40233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89864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sum losses (not weighted)?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56632" y="3392424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weighting is the required specification. Post-presentation we will explore λ₁·loss₁ + λ₂·loss₂ to balance task difficulty if one loss dominates.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Inference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36576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86384"/>
            <a:ext cx="822960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34440"/>
            <a:ext cx="155448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90195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PCM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length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56816" y="19202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234440"/>
            <a:ext cx="155448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90195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features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× 768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75888" y="19202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22192" y="1234440"/>
            <a:ext cx="155448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22192" y="190195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Utterance embedding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256-dim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0" y="19202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41264" y="1234440"/>
            <a:ext cx="1554480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41264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41264" y="190195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proj  +  DF proj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256-dim each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14032" y="19202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0336" y="1234440"/>
            <a:ext cx="1554480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0336" y="190195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identity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Spoofing score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Forward Pass Benefits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46120"/>
            <a:ext cx="201168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46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Faster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374904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inference instead of SV + DF pipeline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33472" y="324612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33472" y="3246120"/>
            <a:ext cx="201168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3246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74904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set of activations for both tasks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9744" y="324612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9744" y="3246120"/>
            <a:ext cx="201168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3246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Latency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374904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50ms utterance embedding on consumer GPU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86016" y="324612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86016" y="3246120"/>
            <a:ext cx="201168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86016" y="3246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Simple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95744" y="374904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ONNX export serves both downstream tasks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762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77824"/>
            <a:ext cx="82296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77824"/>
            <a:ext cx="822960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7782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Is Achieved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Dual-teacher distillation framework fully implemented</a:t>
            </a:r>
            <a:endParaRPr lang="en-US" sz="12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ReDimNet (SV) + ASSIST (DF) teachers integrated &amp; frozen</a:t>
            </a:r>
            <a:endParaRPr lang="en-US" sz="12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loss₁ and loss₂ computed per specification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= loss₁ + loss₂ verified in training loop</a:t>
            </a:r>
            <a:endParaRPr lang="en-US" sz="12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wav2vec2-base + BiLSTM student architecture built</a:t>
            </a:r>
            <a:endParaRPr lang="en-US" sz="12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converges stably — loss drops ~70% over 50 epochs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498848"/>
            <a:ext cx="8229600" cy="457200"/>
          </a:xfrm>
          <a:prstGeom prst="rect">
            <a:avLst/>
          </a:prstGeom>
          <a:solidFill>
            <a:srgbClr val="071122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student. Two teachers. Unified speech intelligence.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Dual-Teacher Distillation with Wav2Vec2</dc:title>
  <dc:subject>PptxGenJS Presentation</dc:subject>
  <dc:creator>PptxGenJS</dc:creator>
  <cp:lastModifiedBy>PptxGenJS</cp:lastModifiedBy>
  <cp:revision>1</cp:revision>
  <dcterms:created xsi:type="dcterms:W3CDTF">2026-04-18T07:13:05Z</dcterms:created>
  <dcterms:modified xsi:type="dcterms:W3CDTF">2026-04-18T07:13:05Z</dcterms:modified>
</cp:coreProperties>
</file>